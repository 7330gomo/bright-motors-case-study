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17" r:id="rId4"/>
  </p:sldMasterIdLst>
  <p:sldIdLst>
    <p:sldId id="348" r:id="rId5"/>
    <p:sldId id="349" r:id="rId6"/>
    <p:sldId id="333" r:id="rId7"/>
    <p:sldId id="285" r:id="rId8"/>
    <p:sldId id="351" r:id="rId9"/>
    <p:sldId id="352" r:id="rId10"/>
    <p:sldId id="353" r:id="rId11"/>
    <p:sldId id="354" r:id="rId12"/>
    <p:sldId id="355" r:id="rId13"/>
    <p:sldId id="356" r:id="rId14"/>
    <p:sldId id="342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64" autoAdjust="0"/>
    <p:restoredTop sz="94634" autoAdjust="0"/>
  </p:normalViewPr>
  <p:slideViewPr>
    <p:cSldViewPr snapToGrid="0">
      <p:cViewPr varScale="1">
        <p:scale>
          <a:sx n="95" d="100"/>
          <a:sy n="95" d="100"/>
        </p:scale>
        <p:origin x="82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omolemo\Downloads\Car%20Sales%20Analysis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omolemo\Downloads\Car%20Sales%20Analysis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Analysis Excel.xlsx]Customer_Purchasing_Preferences!PivotTable5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baseline="0"/>
              <a:t>Car Brand Revenue Daily </a:t>
            </a:r>
            <a:endParaRPr lang="en-ZA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Customer_Purchasing_Preferences!$B$25:$B$26</c:f>
              <c:strCache>
                <c:ptCount val="1"/>
                <c:pt idx="0">
                  <c:v>Exotic / Sports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Customer_Purchasing_Preferences!$A$27:$A$30</c:f>
              <c:strCache>
                <c:ptCount val="3"/>
                <c:pt idx="0">
                  <c:v>Afternoon</c:v>
                </c:pt>
                <c:pt idx="1">
                  <c:v>Evening/Night</c:v>
                </c:pt>
                <c:pt idx="2">
                  <c:v>Morning</c:v>
                </c:pt>
              </c:strCache>
            </c:strRef>
          </c:cat>
          <c:val>
            <c:numRef>
              <c:f>Customer_Purchasing_Preferences!$B$27:$B$30</c:f>
              <c:numCache>
                <c:formatCode>General</c:formatCode>
                <c:ptCount val="3"/>
                <c:pt idx="0">
                  <c:v>95</c:v>
                </c:pt>
                <c:pt idx="1">
                  <c:v>1041</c:v>
                </c:pt>
                <c:pt idx="2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C1-42A9-BDB9-408D6DA1E82A}"/>
            </c:ext>
          </c:extLst>
        </c:ser>
        <c:ser>
          <c:idx val="1"/>
          <c:order val="1"/>
          <c:tx>
            <c:strRef>
              <c:f>Customer_Purchasing_Preferences!$C$25:$C$26</c:f>
              <c:strCache>
                <c:ptCount val="1"/>
                <c:pt idx="0">
                  <c:v>Luxury / Premium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Customer_Purchasing_Preferences!$A$27:$A$30</c:f>
              <c:strCache>
                <c:ptCount val="3"/>
                <c:pt idx="0">
                  <c:v>Afternoon</c:v>
                </c:pt>
                <c:pt idx="1">
                  <c:v>Evening/Night</c:v>
                </c:pt>
                <c:pt idx="2">
                  <c:v>Morning</c:v>
                </c:pt>
              </c:strCache>
            </c:strRef>
          </c:cat>
          <c:val>
            <c:numRef>
              <c:f>Customer_Purchasing_Preferences!$C$27:$C$30</c:f>
              <c:numCache>
                <c:formatCode>General</c:formatCode>
                <c:ptCount val="3"/>
                <c:pt idx="0">
                  <c:v>5024</c:v>
                </c:pt>
                <c:pt idx="1">
                  <c:v>60711</c:v>
                </c:pt>
                <c:pt idx="2">
                  <c:v>9914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C1-42A9-BDB9-408D6DA1E82A}"/>
            </c:ext>
          </c:extLst>
        </c:ser>
        <c:ser>
          <c:idx val="2"/>
          <c:order val="2"/>
          <c:tx>
            <c:strRef>
              <c:f>Customer_Purchasing_Preferences!$D$25:$D$26</c:f>
              <c:strCache>
                <c:ptCount val="1"/>
                <c:pt idx="0">
                  <c:v>Mainstream / Mass Market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Customer_Purchasing_Preferences!$A$27:$A$30</c:f>
              <c:strCache>
                <c:ptCount val="3"/>
                <c:pt idx="0">
                  <c:v>Afternoon</c:v>
                </c:pt>
                <c:pt idx="1">
                  <c:v>Evening/Night</c:v>
                </c:pt>
                <c:pt idx="2">
                  <c:v>Morning</c:v>
                </c:pt>
              </c:strCache>
            </c:strRef>
          </c:cat>
          <c:val>
            <c:numRef>
              <c:f>Customer_Purchasing_Preferences!$D$27:$D$30</c:f>
              <c:numCache>
                <c:formatCode>General</c:formatCode>
                <c:ptCount val="3"/>
                <c:pt idx="0">
                  <c:v>14339</c:v>
                </c:pt>
                <c:pt idx="1">
                  <c:v>261339</c:v>
                </c:pt>
                <c:pt idx="2">
                  <c:v>39123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C1-42A9-BDB9-408D6DA1E82A}"/>
            </c:ext>
          </c:extLst>
        </c:ser>
        <c:ser>
          <c:idx val="3"/>
          <c:order val="3"/>
          <c:tx>
            <c:strRef>
              <c:f>Customer_Purchasing_Preferences!$E$25:$E$26</c:f>
              <c:strCache>
                <c:ptCount val="1"/>
                <c:pt idx="0">
                  <c:v>Miscellaneous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Customer_Purchasing_Preferences!$A$27:$A$30</c:f>
              <c:strCache>
                <c:ptCount val="3"/>
                <c:pt idx="0">
                  <c:v>Afternoon</c:v>
                </c:pt>
                <c:pt idx="1">
                  <c:v>Evening/Night</c:v>
                </c:pt>
                <c:pt idx="2">
                  <c:v>Morning</c:v>
                </c:pt>
              </c:strCache>
            </c:strRef>
          </c:cat>
          <c:val>
            <c:numRef>
              <c:f>Customer_Purchasing_Preferences!$E$27:$E$30</c:f>
              <c:numCache>
                <c:formatCode>General</c:formatCode>
                <c:ptCount val="3"/>
                <c:pt idx="0">
                  <c:v>88</c:v>
                </c:pt>
                <c:pt idx="1">
                  <c:v>1198</c:v>
                </c:pt>
                <c:pt idx="2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6C1-42A9-BDB9-408D6DA1E82A}"/>
            </c:ext>
          </c:extLst>
        </c:ser>
        <c:ser>
          <c:idx val="4"/>
          <c:order val="4"/>
          <c:tx>
            <c:strRef>
              <c:f>Customer_Purchasing_Preferences!$F$25:$F$26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Customer_Purchasing_Preferences!$A$27:$A$30</c:f>
              <c:strCache>
                <c:ptCount val="3"/>
                <c:pt idx="0">
                  <c:v>Afternoon</c:v>
                </c:pt>
                <c:pt idx="1">
                  <c:v>Evening/Night</c:v>
                </c:pt>
                <c:pt idx="2">
                  <c:v>Morning</c:v>
                </c:pt>
              </c:strCache>
            </c:strRef>
          </c:cat>
          <c:val>
            <c:numRef>
              <c:f>Customer_Purchasing_Preferences!$F$27:$F$30</c:f>
              <c:numCache>
                <c:formatCode>General</c:formatCode>
                <c:ptCount val="3"/>
                <c:pt idx="0">
                  <c:v>1858</c:v>
                </c:pt>
                <c:pt idx="1">
                  <c:v>39260</c:v>
                </c:pt>
                <c:pt idx="2">
                  <c:v>6071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C1-42A9-BDB9-408D6DA1E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4712784"/>
        <c:axId val="624708520"/>
      </c:barChart>
      <c:catAx>
        <c:axId val="62471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708520"/>
        <c:crosses val="autoZero"/>
        <c:auto val="1"/>
        <c:lblAlgn val="ctr"/>
        <c:lblOffset val="100"/>
        <c:noMultiLvlLbl val="0"/>
      </c:catAx>
      <c:valAx>
        <c:axId val="624708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Total_Revenue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71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[Car Sales Analysis Excel.xlsx]Customer_Purchasing_Preferences!PivotTable1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ZA" sz="1800" b="0" i="0" baseline="0">
                <a:effectLst/>
              </a:rPr>
              <a:t>Comparing Brand Revenue on Weekdays vs Weekends</a:t>
            </a:r>
            <a:endParaRPr lang="en-ZA">
              <a:effectLst/>
            </a:endParaRPr>
          </a:p>
        </c:rich>
      </c:tx>
      <c:layout>
        <c:manualLayout>
          <c:xMode val="edge"/>
          <c:yMode val="edge"/>
          <c:x val="0.17311111111111108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Customer_Purchasing_Preferences!$B$41:$B$42</c:f>
              <c:strCache>
                <c:ptCount val="1"/>
                <c:pt idx="0">
                  <c:v>Exotic / Sports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Customer_Purchasing_Preferences!$A$43:$A$45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Customer_Purchasing_Preferences!$B$43:$B$45</c:f>
              <c:numCache>
                <c:formatCode>General</c:formatCode>
                <c:ptCount val="2"/>
                <c:pt idx="0">
                  <c:v>1260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D-4B7A-B45A-8362B065CF17}"/>
            </c:ext>
          </c:extLst>
        </c:ser>
        <c:ser>
          <c:idx val="1"/>
          <c:order val="1"/>
          <c:tx>
            <c:strRef>
              <c:f>Customer_Purchasing_Preferences!$C$41:$C$42</c:f>
              <c:strCache>
                <c:ptCount val="1"/>
                <c:pt idx="0">
                  <c:v>Luxury / Premium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Customer_Purchasing_Preferences!$A$43:$A$45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Customer_Purchasing_Preferences!$C$43:$C$45</c:f>
              <c:numCache>
                <c:formatCode>General</c:formatCode>
                <c:ptCount val="2"/>
                <c:pt idx="0">
                  <c:v>75637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4D-4B7A-B45A-8362B065CF17}"/>
            </c:ext>
          </c:extLst>
        </c:ser>
        <c:ser>
          <c:idx val="2"/>
          <c:order val="2"/>
          <c:tx>
            <c:strRef>
              <c:f>Customer_Purchasing_Preferences!$D$41:$D$42</c:f>
              <c:strCache>
                <c:ptCount val="1"/>
                <c:pt idx="0">
                  <c:v>Mainstream / Mass Market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Customer_Purchasing_Preferences!$A$43:$A$45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Customer_Purchasing_Preferences!$D$43:$D$45</c:f>
              <c:numCache>
                <c:formatCode>General</c:formatCode>
                <c:ptCount val="2"/>
                <c:pt idx="0">
                  <c:v>314731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4D-4B7A-B45A-8362B065CF17}"/>
            </c:ext>
          </c:extLst>
        </c:ser>
        <c:ser>
          <c:idx val="3"/>
          <c:order val="3"/>
          <c:tx>
            <c:strRef>
              <c:f>Customer_Purchasing_Preferences!$E$41:$E$42</c:f>
              <c:strCache>
                <c:ptCount val="1"/>
                <c:pt idx="0">
                  <c:v>Miscellaneous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Customer_Purchasing_Preferences!$A$43:$A$45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Customer_Purchasing_Preferences!$E$43:$E$45</c:f>
              <c:numCache>
                <c:formatCode>General</c:formatCode>
                <c:ptCount val="2"/>
                <c:pt idx="0">
                  <c:v>1494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4D-4B7A-B45A-8362B065CF17}"/>
            </c:ext>
          </c:extLst>
        </c:ser>
        <c:ser>
          <c:idx val="4"/>
          <c:order val="4"/>
          <c:tx>
            <c:strRef>
              <c:f>Customer_Purchasing_Preferences!$F$41:$F$42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Customer_Purchasing_Preferences!$A$43:$A$45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Customer_Purchasing_Preferences!$F$43:$F$45</c:f>
              <c:numCache>
                <c:formatCode>General</c:formatCode>
                <c:ptCount val="2"/>
                <c:pt idx="0">
                  <c:v>47130</c:v>
                </c:pt>
                <c:pt idx="1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4D-4B7A-B45A-8362B065C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0170496"/>
        <c:axId val="630169840"/>
      </c:barChart>
      <c:catAx>
        <c:axId val="630170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169840"/>
        <c:crosses val="autoZero"/>
        <c:auto val="1"/>
        <c:lblAlgn val="ctr"/>
        <c:lblOffset val="100"/>
        <c:noMultiLvlLbl val="0"/>
      </c:catAx>
      <c:valAx>
        <c:axId val="63016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Total_Revenue</a:t>
                </a:r>
              </a:p>
            </c:rich>
          </c:tx>
          <c:layout>
            <c:manualLayout>
              <c:xMode val="edge"/>
              <c:yMode val="edge"/>
              <c:x val="2.2222222222222223E-2"/>
              <c:y val="0.393581583552056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170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11T22:45:19.863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EC5FC9-F7D0-0141-850B-7623CA81A775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F839E6-7F1F-6E4D-B83C-F5DA99E98229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ACA50E-A3A8-9D41-B30C-03B00FB2DEF0}"/>
              </a:ext>
            </a:extLst>
          </p:cNvPr>
          <p:cNvSpPr/>
          <p:nvPr userDrawn="1"/>
        </p:nvSpPr>
        <p:spPr>
          <a:xfrm>
            <a:off x="5664569" y="541205"/>
            <a:ext cx="283407" cy="283407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A92073B-F20B-034A-BC3A-9B993F0DD0BA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091F50-D240-B145-B0B1-DAEDDFDE34AD}"/>
              </a:ext>
            </a:extLst>
          </p:cNvPr>
          <p:cNvSpPr/>
          <p:nvPr userDrawn="1"/>
        </p:nvSpPr>
        <p:spPr>
          <a:xfrm>
            <a:off x="0" y="-1994"/>
            <a:ext cx="1700492" cy="1700492"/>
          </a:xfrm>
          <a:prstGeom prst="ellips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2141DD-8D8D-FA43-BD4F-2CFC93C87782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1A62821-5E0F-DE41-B5C2-17A3A7277F4E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311AE14-D8F0-1D4C-9D8D-603836582793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F2BE645-D4F2-304C-9AFA-473D8F888A85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3640330-30A6-6948-87A7-9DE6D41794F5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DFB6548-D83C-1D4E-AE87-2E8F1D3D0FA7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97C7400-7EDC-8845-AB5A-80FB8175C1E2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BC941C44-9B96-0040-8C71-D8364EB57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014993B-5057-2A4C-9CA0-383DC5504020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3B110E8-1FE2-BC47-A5AE-4C698B688B65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DACF2F-5D4D-434D-8786-E4DF0385E6F6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E816CC-CBCA-7946-B9E5-E9649EF369BE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C950F4E3-11A9-2549-A00D-601AEF6E49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21B5A175-E633-E74F-AE3B-DF58F989F4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6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261D2778-BA56-D247-9B2C-28D010C9D4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DAF6EFF-134E-BA40-8B51-917FDE13C07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88BF917-678C-1249-95B9-7FD2AC7B2231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AFF17AE-3EA2-2D47-BCDD-E5587B127062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486968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 Goes Here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D7EDB7-7C02-0245-8A1F-553F094A4429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CF5D165-4F6F-2447-8B9E-8B0D94808ED3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46C35C7-7133-4C43-BBF7-575440F7BAD3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33DD7BE-C379-5C42-9FB0-EF72161049F4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43DFC41-C6DE-7942-9358-E23A1EE8759D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ABB593-7229-9548-8BCC-C947B1BF8D93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6D2413-D60D-484E-ACAB-31891AFDA133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86090E0F-345E-3D4B-8886-95D8A4A77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25868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7873" y="758952"/>
            <a:ext cx="7356255" cy="35661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ctr">
              <a:lnSpc>
                <a:spcPct val="9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7873" y="4663440"/>
            <a:ext cx="7356255" cy="114300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158240" y="4485132"/>
            <a:ext cx="9875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75A452-E352-BE40-9E44-7C0E90F4DBC5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E00246-7C7C-8E48-B95E-02BE89F197F5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F1652A-A323-BC48-9A00-7ECF1C4E1DA4}"/>
              </a:ext>
            </a:extLst>
          </p:cNvPr>
          <p:cNvSpPr/>
          <p:nvPr userDrawn="1"/>
        </p:nvSpPr>
        <p:spPr>
          <a:xfrm>
            <a:off x="11634902" y="2565781"/>
            <a:ext cx="283407" cy="283407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33BC29-8FD1-CB45-8FF6-0C7CC3CB423D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67EB1F-C984-B840-BD1F-FD174D01A3AF}"/>
              </a:ext>
            </a:extLst>
          </p:cNvPr>
          <p:cNvSpPr/>
          <p:nvPr userDrawn="1"/>
        </p:nvSpPr>
        <p:spPr>
          <a:xfrm>
            <a:off x="6135" y="0"/>
            <a:ext cx="1700492" cy="1700492"/>
          </a:xfrm>
          <a:prstGeom prst="ellips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75F8B1-A294-E349-BD08-B06B2954212A}"/>
              </a:ext>
            </a:extLst>
          </p:cNvPr>
          <p:cNvGrpSpPr/>
          <p:nvPr userDrawn="1"/>
        </p:nvGrpSpPr>
        <p:grpSpPr>
          <a:xfrm>
            <a:off x="495300" y="0"/>
            <a:ext cx="11201400" cy="6880860"/>
            <a:chOff x="495300" y="0"/>
            <a:chExt cx="11201400" cy="6880860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942EFAD-842E-9C46-9853-C0F135D24007}"/>
                </a:ext>
              </a:extLst>
            </p:cNvPr>
            <p:cNvSpPr/>
            <p:nvPr userDrawn="1"/>
          </p:nvSpPr>
          <p:spPr>
            <a:xfrm>
              <a:off x="495300" y="0"/>
              <a:ext cx="1337265" cy="6880860"/>
            </a:xfrm>
            <a:custGeom>
              <a:avLst/>
              <a:gdLst>
                <a:gd name="connsiteX0" fmla="*/ 1173967 w 1337265"/>
                <a:gd name="connsiteY0" fmla="*/ 0 h 6880860"/>
                <a:gd name="connsiteX1" fmla="*/ 1319300 w 1337265"/>
                <a:gd name="connsiteY1" fmla="*/ 0 h 6880860"/>
                <a:gd name="connsiteX2" fmla="*/ 1204253 w 1337265"/>
                <a:gd name="connsiteY2" fmla="*/ 146399 h 6880860"/>
                <a:gd name="connsiteX3" fmla="*/ 114300 w 1337265"/>
                <a:gd name="connsiteY3" fmla="*/ 3429000 h 6880860"/>
                <a:gd name="connsiteX4" fmla="*/ 1204253 w 1337265"/>
                <a:gd name="connsiteY4" fmla="*/ 6711601 h 6880860"/>
                <a:gd name="connsiteX5" fmla="*/ 1337265 w 1337265"/>
                <a:gd name="connsiteY5" fmla="*/ 6880860 h 6880860"/>
                <a:gd name="connsiteX6" fmla="*/ 1191931 w 1337265"/>
                <a:gd name="connsiteY6" fmla="*/ 6880860 h 6880860"/>
                <a:gd name="connsiteX7" fmla="*/ 1112661 w 1337265"/>
                <a:gd name="connsiteY7" fmla="*/ 6779988 h 6880860"/>
                <a:gd name="connsiteX8" fmla="*/ 0 w 1337265"/>
                <a:gd name="connsiteY8" fmla="*/ 3429000 h 6880860"/>
                <a:gd name="connsiteX9" fmla="*/ 1112661 w 1337265"/>
                <a:gd name="connsiteY9" fmla="*/ 78012 h 6880860"/>
                <a:gd name="connsiteX10" fmla="*/ 1173967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173967" y="0"/>
                  </a:moveTo>
                  <a:lnTo>
                    <a:pt x="1319300" y="0"/>
                  </a:lnTo>
                  <a:lnTo>
                    <a:pt x="1204253" y="146399"/>
                  </a:lnTo>
                  <a:cubicBezTo>
                    <a:pt x="519693" y="1061765"/>
                    <a:pt x="114300" y="2198040"/>
                    <a:pt x="114300" y="3429000"/>
                  </a:cubicBezTo>
                  <a:cubicBezTo>
                    <a:pt x="114300" y="4659960"/>
                    <a:pt x="519693" y="5796235"/>
                    <a:pt x="1204253" y="6711601"/>
                  </a:cubicBezTo>
                  <a:lnTo>
                    <a:pt x="1337265" y="6880860"/>
                  </a:lnTo>
                  <a:lnTo>
                    <a:pt x="1191931" y="6880860"/>
                  </a:lnTo>
                  <a:lnTo>
                    <a:pt x="1112661" y="6779988"/>
                  </a:lnTo>
                  <a:cubicBezTo>
                    <a:pt x="413839" y="5845552"/>
                    <a:pt x="0" y="4685605"/>
                    <a:pt x="0" y="3429000"/>
                  </a:cubicBezTo>
                  <a:cubicBezTo>
                    <a:pt x="0" y="2172395"/>
                    <a:pt x="413839" y="1012448"/>
                    <a:pt x="1112661" y="78012"/>
                  </a:cubicBezTo>
                  <a:lnTo>
                    <a:pt x="117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E0B7AF7-52C0-EB45-93DE-79DFF44F5AAE}"/>
                </a:ext>
              </a:extLst>
            </p:cNvPr>
            <p:cNvSpPr/>
            <p:nvPr userDrawn="1"/>
          </p:nvSpPr>
          <p:spPr>
            <a:xfrm>
              <a:off x="10359435" y="0"/>
              <a:ext cx="1337265" cy="6880860"/>
            </a:xfrm>
            <a:custGeom>
              <a:avLst/>
              <a:gdLst>
                <a:gd name="connsiteX0" fmla="*/ 17965 w 1337265"/>
                <a:gd name="connsiteY0" fmla="*/ 0 h 6880860"/>
                <a:gd name="connsiteX1" fmla="*/ 163299 w 1337265"/>
                <a:gd name="connsiteY1" fmla="*/ 0 h 6880860"/>
                <a:gd name="connsiteX2" fmla="*/ 224604 w 1337265"/>
                <a:gd name="connsiteY2" fmla="*/ 78012 h 6880860"/>
                <a:gd name="connsiteX3" fmla="*/ 1337265 w 1337265"/>
                <a:gd name="connsiteY3" fmla="*/ 3429000 h 6880860"/>
                <a:gd name="connsiteX4" fmla="*/ 224604 w 1337265"/>
                <a:gd name="connsiteY4" fmla="*/ 6779988 h 6880860"/>
                <a:gd name="connsiteX5" fmla="*/ 145334 w 1337265"/>
                <a:gd name="connsiteY5" fmla="*/ 6880860 h 6880860"/>
                <a:gd name="connsiteX6" fmla="*/ 0 w 1337265"/>
                <a:gd name="connsiteY6" fmla="*/ 6880860 h 6880860"/>
                <a:gd name="connsiteX7" fmla="*/ 133012 w 1337265"/>
                <a:gd name="connsiteY7" fmla="*/ 6711601 h 6880860"/>
                <a:gd name="connsiteX8" fmla="*/ 1222965 w 1337265"/>
                <a:gd name="connsiteY8" fmla="*/ 3429000 h 6880860"/>
                <a:gd name="connsiteX9" fmla="*/ 133012 w 1337265"/>
                <a:gd name="connsiteY9" fmla="*/ 146399 h 6880860"/>
                <a:gd name="connsiteX10" fmla="*/ 17965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7965" y="0"/>
                  </a:moveTo>
                  <a:lnTo>
                    <a:pt x="163299" y="0"/>
                  </a:lnTo>
                  <a:lnTo>
                    <a:pt x="224604" y="78012"/>
                  </a:lnTo>
                  <a:cubicBezTo>
                    <a:pt x="923426" y="1012448"/>
                    <a:pt x="1337265" y="2172395"/>
                    <a:pt x="1337265" y="3429000"/>
                  </a:cubicBezTo>
                  <a:cubicBezTo>
                    <a:pt x="1337265" y="4685605"/>
                    <a:pt x="923426" y="5845552"/>
                    <a:pt x="224604" y="6779988"/>
                  </a:cubicBezTo>
                  <a:lnTo>
                    <a:pt x="145334" y="6880860"/>
                  </a:lnTo>
                  <a:lnTo>
                    <a:pt x="0" y="6880860"/>
                  </a:lnTo>
                  <a:lnTo>
                    <a:pt x="133012" y="6711601"/>
                  </a:lnTo>
                  <a:cubicBezTo>
                    <a:pt x="817572" y="5796235"/>
                    <a:pt x="1222965" y="4659960"/>
                    <a:pt x="1222965" y="3429000"/>
                  </a:cubicBezTo>
                  <a:cubicBezTo>
                    <a:pt x="1222965" y="2198040"/>
                    <a:pt x="817572" y="1061765"/>
                    <a:pt x="133012" y="146399"/>
                  </a:cubicBezTo>
                  <a:lnTo>
                    <a:pt x="179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6E6D77-4CA3-764C-99E1-7D2CFE6B929E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D155117-8A2A-414B-9598-C2919DF747DC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3838F88-99DE-9246-A83B-9C7DB6AE99EF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031FBA2-FD0D-7346-8941-4861923E15CF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22D5D5E-3339-5D47-9E1C-8897082672DB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3BE7267-458F-A141-8480-10E9FB55367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71A438B-57BE-F445-AFBB-BBB2270E9BB4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040C74AA-3663-2A49-AA62-C9207F22BF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70AAE0-F405-8C4D-B2F2-BC73ABD2560F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72AC8A-19AA-5641-88DA-414732A1A643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0FF4153-FE4A-204C-B4B4-F331F8058F73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910027-B57E-5C4C-B196-C2CF16EB6B83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896C11-7092-DD43-9676-23A81081B759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9FB8D4-533A-0C44-89B5-487470B0B82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642B0AB-C322-C14B-B2A1-E9F144473219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7ABE4C7-7926-3949-9205-07E33FB2D2CE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1B43F26-6C7C-4D43-9D1C-A0F792F54874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53D175F-F9D4-DD4E-81B9-495A2E867249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52D03A0-BBCF-2042-832A-8082F1377835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E2831508-70C2-2F43-998D-55CE4837B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32ACE3-4E65-6243-9416-19BFA39FD92C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372105-F1CB-9149-A4B9-C151B3CCB9B4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E2DDF3-5C18-5644-8994-8CD902656DE8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83F4E3-E6C1-BB40-90E6-290C140F9A07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C09A16-A6B6-E04E-A40A-F482C0A95C0A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2DF34-338D-4F43-B8F7-D7A00348B68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778C21-4171-774D-A73F-77BEBF2E4C18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C25D2EF-AE01-A247-8BC3-8F35F863C0A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F860801-109B-EB4F-96A8-35D76B759583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337F70-9199-7242-BD8B-8F96606A18A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F9320B7-AD58-7649-BC95-614ED90F4E6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C0DE796-998A-F84E-9B56-1958C6777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23D2B0-E152-D14D-8154-8DD47BD10DF3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A3BEDF6-5ABA-3B42-99BB-4438813B1A4B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CF8BE7-F2AC-AB4C-900F-F64D55111EFC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F4254B-D281-684E-BD0B-63AEC0AC197C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C09A16-A6B6-E04E-A40A-F482C0A95C0A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2DF34-338D-4F43-B8F7-D7A00348B68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778C21-4171-774D-A73F-77BEBF2E4C18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C25D2EF-AE01-A247-8BC3-8F35F863C0A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F860801-109B-EB4F-96A8-35D76B759583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337F70-9199-7242-BD8B-8F96606A18A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F9320B7-AD58-7649-BC95-614ED90F4E6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C0DE796-998A-F84E-9B56-1958C6777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5751389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84D173E-9054-4C40-98EA-A6EAC4D85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1641" y="0"/>
            <a:ext cx="4270360" cy="6858001"/>
          </a:xfrm>
          <a:custGeom>
            <a:avLst/>
            <a:gdLst>
              <a:gd name="connsiteX0" fmla="*/ 1904091 w 4305219"/>
              <a:gd name="connsiteY0" fmla="*/ 0 h 6913983"/>
              <a:gd name="connsiteX1" fmla="*/ 4305219 w 4305219"/>
              <a:gd name="connsiteY1" fmla="*/ 0 h 6913983"/>
              <a:gd name="connsiteX2" fmla="*/ 4305219 w 4305219"/>
              <a:gd name="connsiteY2" fmla="*/ 6913983 h 6913983"/>
              <a:gd name="connsiteX3" fmla="*/ 1818156 w 4305219"/>
              <a:gd name="connsiteY3" fmla="*/ 6913983 h 6913983"/>
              <a:gd name="connsiteX4" fmla="*/ 1507580 w 4305219"/>
              <a:gd name="connsiteY4" fmla="*/ 6681739 h 6913983"/>
              <a:gd name="connsiteX5" fmla="*/ 0 w 4305219"/>
              <a:gd name="connsiteY5" fmla="*/ 3484983 h 6913983"/>
              <a:gd name="connsiteX6" fmla="*/ 1826504 w 4305219"/>
              <a:gd name="connsiteY6" fmla="*/ 49741 h 691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05219" h="6913983">
                <a:moveTo>
                  <a:pt x="1904091" y="0"/>
                </a:moveTo>
                <a:lnTo>
                  <a:pt x="4305219" y="0"/>
                </a:lnTo>
                <a:lnTo>
                  <a:pt x="4305219" y="6913983"/>
                </a:lnTo>
                <a:lnTo>
                  <a:pt x="1818156" y="6913983"/>
                </a:lnTo>
                <a:lnTo>
                  <a:pt x="1507580" y="6681739"/>
                </a:lnTo>
                <a:cubicBezTo>
                  <a:pt x="586863" y="5921896"/>
                  <a:pt x="0" y="4771974"/>
                  <a:pt x="0" y="3484983"/>
                </a:cubicBezTo>
                <a:cubicBezTo>
                  <a:pt x="0" y="2054993"/>
                  <a:pt x="724522" y="794225"/>
                  <a:pt x="1826504" y="497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>
            <a:noAutofit/>
          </a:bodyPr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81322FE-E286-E344-B332-CF37E6CAD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2322728"/>
            <a:ext cx="5751389" cy="4032225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98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71DAD948-6707-714E-9E8F-26A36F4AE20E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F81511-AC79-6748-869A-9982CD568B16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F72D4E-9F4D-6341-9F9E-63E01AF59B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54414" y="265113"/>
            <a:ext cx="6089650" cy="6089650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2F758DC-4792-1D42-83A8-ED4E6CD5F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2322728"/>
            <a:ext cx="4144096" cy="4032225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CB8633A-7C70-3C48-8FEE-69941AF2B466}"/>
              </a:ext>
            </a:extLst>
          </p:cNvPr>
          <p:cNvSpPr/>
          <p:nvPr userDrawn="1"/>
        </p:nvSpPr>
        <p:spPr>
          <a:xfrm>
            <a:off x="5535466" y="5600935"/>
            <a:ext cx="643415" cy="643415"/>
          </a:xfrm>
          <a:prstGeom prst="ellipse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B967D9-597D-E14A-AE80-4C3877655FB2}"/>
              </a:ext>
            </a:extLst>
          </p:cNvPr>
          <p:cNvSpPr/>
          <p:nvPr userDrawn="1"/>
        </p:nvSpPr>
        <p:spPr>
          <a:xfrm>
            <a:off x="5664569" y="541205"/>
            <a:ext cx="283407" cy="283407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7114435-8CC0-E744-B541-8EF28B774ECF}"/>
              </a:ext>
            </a:extLst>
          </p:cNvPr>
          <p:cNvSpPr/>
          <p:nvPr userDrawn="1"/>
        </p:nvSpPr>
        <p:spPr>
          <a:xfrm flipV="1">
            <a:off x="11885583" y="3453319"/>
            <a:ext cx="167338" cy="167338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B844B6D-9772-1D4A-A22A-19F6A1250CD6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834FA13-7139-8546-99A9-CF39B5EDFDF5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746C656-7A16-8445-80B5-88C23703E694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E0A223A-22AD-6D40-9B6F-62F488036D58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DB8FD84-D022-E842-9B56-88F0574EBD30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2F4DC0E-4CC4-374D-BE14-132577B95A70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4E00522-1D16-F244-89FE-668EEBD08F2B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C4C5AC59-B537-D54C-9B5C-55B75E911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4144095" cy="1369074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4000" cap="all" baseline="0"/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25383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22" r:id="rId3"/>
    <p:sldLayoutId id="2147483708" r:id="rId4"/>
    <p:sldLayoutId id="2147483709" r:id="rId5"/>
    <p:sldLayoutId id="2147483716" r:id="rId6"/>
    <p:sldLayoutId id="2147483710" r:id="rId7"/>
    <p:sldLayoutId id="2147483724" r:id="rId8"/>
    <p:sldLayoutId id="2147483711" r:id="rId9"/>
    <p:sldLayoutId id="214748371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0278-9A9A-0F4E-BDCF-6351BE173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CAR SALES </a:t>
            </a:r>
            <a:r>
              <a:rPr lang="en-US" dirty="0"/>
              <a:t>PITCH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F481B-9C2C-084A-8DF1-0582D2DA4B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Gomolemo moabalobelo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69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00C7-0803-8A43-A9F3-6FF24BDC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915" y="625641"/>
            <a:ext cx="7356255" cy="1012417"/>
          </a:xfrm>
        </p:spPr>
        <p:txBody>
          <a:bodyPr>
            <a:normAutofit fontScale="90000"/>
          </a:bodyPr>
          <a:lstStyle/>
          <a:p>
            <a:r>
              <a:rPr lang="en-US" sz="6600" dirty="0" smtClean="0"/>
              <a:t>Table of content</a:t>
            </a:r>
            <a:endParaRPr lang="en-US" sz="6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CA704-4032-7441-8B97-38C90F96D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4927" y="1952325"/>
            <a:ext cx="9986211" cy="4737233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+mj-lt"/>
              </a:rPr>
              <a:t>1</a:t>
            </a:r>
            <a:r>
              <a:rPr lang="en-US" sz="2800" b="1" dirty="0" smtClean="0">
                <a:latin typeface="+mj-lt"/>
              </a:rPr>
              <a:t>. Introduction                      3</a:t>
            </a:r>
          </a:p>
          <a:p>
            <a:pPr algn="l"/>
            <a:r>
              <a:rPr lang="en-US" sz="2800" b="1" dirty="0" smtClean="0">
                <a:latin typeface="+mj-lt"/>
              </a:rPr>
              <a:t>2. Car </a:t>
            </a:r>
            <a:r>
              <a:rPr lang="en-US" sz="2800" b="1" dirty="0">
                <a:latin typeface="+mj-lt"/>
              </a:rPr>
              <a:t>Brand Revenue Analysis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smtClean="0">
                <a:latin typeface="+mj-lt"/>
              </a:rPr>
              <a:t>...... </a:t>
            </a:r>
            <a:r>
              <a:rPr lang="en-US" sz="2800" b="1" i="1" dirty="0" smtClean="0">
                <a:latin typeface="+mj-lt"/>
              </a:rPr>
              <a:t>4–10</a:t>
            </a:r>
          </a:p>
          <a:p>
            <a:pPr algn="l"/>
            <a:r>
              <a:rPr lang="en-US" sz="1900" b="1" dirty="0" smtClean="0">
                <a:latin typeface="+mj-lt"/>
              </a:rPr>
              <a:t> 2.1 </a:t>
            </a:r>
            <a:r>
              <a:rPr lang="en-US" sz="1900" b="1" dirty="0">
                <a:latin typeface="+mj-lt"/>
              </a:rPr>
              <a:t>Revenue by Model, Mileage, and </a:t>
            </a:r>
            <a:r>
              <a:rPr lang="en-US" sz="1900" b="1" dirty="0" smtClean="0">
                <a:latin typeface="+mj-lt"/>
              </a:rPr>
              <a:t>Year</a:t>
            </a:r>
            <a:r>
              <a:rPr lang="en-US" sz="1900" dirty="0" smtClean="0">
                <a:latin typeface="+mj-lt"/>
              </a:rPr>
              <a:t>           </a:t>
            </a:r>
            <a:r>
              <a:rPr lang="en-US" sz="1900" i="1" dirty="0">
                <a:latin typeface="+mj-lt"/>
              </a:rPr>
              <a:t>4</a:t>
            </a:r>
            <a:r>
              <a:rPr lang="en-US" sz="1900" dirty="0">
                <a:latin typeface="+mj-lt"/>
              </a:rPr>
              <a:t/>
            </a:r>
            <a:br>
              <a:rPr lang="en-US" sz="1900" dirty="0">
                <a:latin typeface="+mj-lt"/>
              </a:rPr>
            </a:br>
            <a:r>
              <a:rPr lang="en-US" sz="1900" dirty="0">
                <a:latin typeface="+mj-lt"/>
              </a:rPr>
              <a:t> </a:t>
            </a:r>
            <a:r>
              <a:rPr lang="en-US" sz="1900" b="1" dirty="0" smtClean="0">
                <a:latin typeface="+mj-lt"/>
              </a:rPr>
              <a:t>2.2 </a:t>
            </a:r>
            <a:r>
              <a:rPr lang="en-US" sz="1900" b="1" dirty="0">
                <a:latin typeface="+mj-lt"/>
              </a:rPr>
              <a:t>Revenue by Region and Year</a:t>
            </a:r>
            <a:r>
              <a:rPr lang="en-US" sz="1900" dirty="0">
                <a:latin typeface="+mj-lt"/>
              </a:rPr>
              <a:t>  </a:t>
            </a:r>
            <a:r>
              <a:rPr lang="en-US" sz="1900" dirty="0" smtClean="0">
                <a:latin typeface="+mj-lt"/>
              </a:rPr>
              <a:t>                  </a:t>
            </a:r>
            <a:r>
              <a:rPr lang="en-US" sz="1900" i="1" dirty="0">
                <a:latin typeface="+mj-lt"/>
              </a:rPr>
              <a:t>5</a:t>
            </a:r>
            <a:r>
              <a:rPr lang="en-US" sz="1900" dirty="0">
                <a:latin typeface="+mj-lt"/>
              </a:rPr>
              <a:t/>
            </a:r>
            <a:br>
              <a:rPr lang="en-US" sz="1900" dirty="0">
                <a:latin typeface="+mj-lt"/>
              </a:rPr>
            </a:br>
            <a:r>
              <a:rPr lang="en-US" sz="1900" dirty="0">
                <a:latin typeface="+mj-lt"/>
              </a:rPr>
              <a:t> </a:t>
            </a:r>
            <a:r>
              <a:rPr lang="en-US" sz="1900" b="1" dirty="0" smtClean="0">
                <a:latin typeface="+mj-lt"/>
              </a:rPr>
              <a:t>2.3 </a:t>
            </a:r>
            <a:r>
              <a:rPr lang="en-US" sz="1900" b="1" dirty="0">
                <a:latin typeface="+mj-lt"/>
              </a:rPr>
              <a:t>Revenue by Day of the Week and Daily </a:t>
            </a:r>
            <a:r>
              <a:rPr lang="en-US" sz="1900" b="1" dirty="0" smtClean="0">
                <a:latin typeface="+mj-lt"/>
              </a:rPr>
              <a:t>Trends</a:t>
            </a:r>
            <a:r>
              <a:rPr lang="en-US" sz="1900" dirty="0">
                <a:latin typeface="+mj-lt"/>
              </a:rPr>
              <a:t>  </a:t>
            </a:r>
            <a:r>
              <a:rPr lang="en-US" sz="1900" dirty="0" smtClean="0">
                <a:latin typeface="+mj-lt"/>
              </a:rPr>
              <a:t> </a:t>
            </a:r>
            <a:r>
              <a:rPr lang="en-US" sz="1900" i="1" dirty="0" smtClean="0">
                <a:latin typeface="+mj-lt"/>
              </a:rPr>
              <a:t>6</a:t>
            </a:r>
            <a:r>
              <a:rPr lang="en-US" sz="1900" dirty="0">
                <a:latin typeface="+mj-lt"/>
              </a:rPr>
              <a:t/>
            </a:r>
            <a:br>
              <a:rPr lang="en-US" sz="1900" dirty="0">
                <a:latin typeface="+mj-lt"/>
              </a:rPr>
            </a:br>
            <a:r>
              <a:rPr lang="en-US" sz="1900" dirty="0">
                <a:latin typeface="+mj-lt"/>
              </a:rPr>
              <a:t> </a:t>
            </a:r>
            <a:r>
              <a:rPr lang="en-US" sz="1900" b="1" dirty="0" smtClean="0">
                <a:latin typeface="+mj-lt"/>
              </a:rPr>
              <a:t>2.4 </a:t>
            </a:r>
            <a:r>
              <a:rPr lang="en-US" sz="1900" b="1" dirty="0">
                <a:latin typeface="+mj-lt"/>
              </a:rPr>
              <a:t>Revenue by Month and Mileage</a:t>
            </a:r>
            <a:r>
              <a:rPr lang="en-US" sz="1900" dirty="0">
                <a:latin typeface="+mj-lt"/>
              </a:rPr>
              <a:t>  </a:t>
            </a:r>
            <a:r>
              <a:rPr lang="en-US" sz="1900" dirty="0" smtClean="0">
                <a:latin typeface="+mj-lt"/>
              </a:rPr>
              <a:t>                </a:t>
            </a:r>
            <a:r>
              <a:rPr lang="en-US" sz="1900" i="1" dirty="0">
                <a:latin typeface="+mj-lt"/>
              </a:rPr>
              <a:t>7</a:t>
            </a:r>
            <a:r>
              <a:rPr lang="en-US" sz="1900" dirty="0">
                <a:latin typeface="+mj-lt"/>
              </a:rPr>
              <a:t/>
            </a:r>
            <a:br>
              <a:rPr lang="en-US" sz="1900" dirty="0">
                <a:latin typeface="+mj-lt"/>
              </a:rPr>
            </a:br>
            <a:r>
              <a:rPr lang="en-US" sz="1900" dirty="0">
                <a:latin typeface="+mj-lt"/>
              </a:rPr>
              <a:t> </a:t>
            </a:r>
            <a:r>
              <a:rPr lang="en-US" sz="1900" b="1" dirty="0" smtClean="0">
                <a:latin typeface="+mj-lt"/>
              </a:rPr>
              <a:t>2.5 </a:t>
            </a:r>
            <a:r>
              <a:rPr lang="en-US" sz="1900" b="1" dirty="0">
                <a:latin typeface="+mj-lt"/>
              </a:rPr>
              <a:t>Revenue by Color</a:t>
            </a:r>
            <a:r>
              <a:rPr lang="en-US" sz="1900" dirty="0">
                <a:latin typeface="+mj-lt"/>
              </a:rPr>
              <a:t> </a:t>
            </a:r>
            <a:r>
              <a:rPr lang="en-US" sz="1900" dirty="0" smtClean="0">
                <a:latin typeface="+mj-lt"/>
              </a:rPr>
              <a:t>                             </a:t>
            </a:r>
            <a:r>
              <a:rPr lang="en-US" sz="1900" i="1" dirty="0" smtClean="0">
                <a:latin typeface="+mj-lt"/>
              </a:rPr>
              <a:t>8–10</a:t>
            </a:r>
            <a:br>
              <a:rPr lang="en-US" sz="1900" i="1" dirty="0" smtClean="0">
                <a:latin typeface="+mj-lt"/>
              </a:rPr>
            </a:br>
            <a:r>
              <a:rPr lang="en-US" sz="1900" i="1" dirty="0" smtClean="0">
                <a:latin typeface="+mj-lt"/>
              </a:rPr>
              <a:t/>
            </a:r>
            <a:br>
              <a:rPr lang="en-US" sz="1900" i="1" dirty="0" smtClean="0">
                <a:latin typeface="+mj-lt"/>
              </a:rPr>
            </a:br>
            <a:r>
              <a:rPr lang="en-US" sz="2800" b="1" dirty="0" smtClean="0">
                <a:latin typeface="+mj-lt"/>
              </a:rPr>
              <a:t>3. RECOMMENDATION                    11</a:t>
            </a:r>
            <a:br>
              <a:rPr lang="en-US" sz="2800" b="1" dirty="0" smtClean="0">
                <a:latin typeface="+mj-lt"/>
              </a:rPr>
            </a:br>
            <a:r>
              <a:rPr lang="en-US" sz="2800" b="1" dirty="0" smtClean="0">
                <a:latin typeface="+mj-lt"/>
              </a:rPr>
              <a:t>4.CONCLUSION                         12</a:t>
            </a:r>
            <a:endParaRPr lang="en-US" sz="2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08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06A708-C428-8443-AB48-F60A95FF7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5912" y="1790891"/>
            <a:ext cx="9699056" cy="3960204"/>
          </a:xfrm>
        </p:spPr>
        <p:txBody>
          <a:bodyPr>
            <a:normAutofit/>
          </a:bodyPr>
          <a:lstStyle/>
          <a:p>
            <a:pPr marL="384048" lvl="2" indent="0">
              <a:buNone/>
            </a:pPr>
            <a:r>
              <a:rPr lang="en-US" sz="1800" dirty="0">
                <a:latin typeface="+mj-lt"/>
              </a:rPr>
              <a:t>With the recent appointment of a new Head of Sales, tasked with expanding the dealership network, improving sales performance, and optimizing inventory management, this analysis is designed to provide valuable, data-driven insights to support these objectives. </a:t>
            </a:r>
            <a:endParaRPr lang="en-US" sz="1800" dirty="0" smtClean="0">
              <a:latin typeface="+mj-lt"/>
            </a:endParaRPr>
          </a:p>
          <a:p>
            <a:pPr marL="384048" lvl="2" indent="0">
              <a:buNone/>
            </a:pPr>
            <a:endParaRPr lang="en-US" sz="1800" dirty="0">
              <a:latin typeface="+mj-lt"/>
            </a:endParaRPr>
          </a:p>
          <a:p>
            <a:pPr marL="384048" lvl="2" indent="0">
              <a:buNone/>
            </a:pPr>
            <a:r>
              <a:rPr lang="en-US" sz="1800" dirty="0" smtClean="0">
                <a:latin typeface="+mj-lt"/>
              </a:rPr>
              <a:t>In </a:t>
            </a:r>
            <a:r>
              <a:rPr lang="en-US" sz="1800" dirty="0">
                <a:latin typeface="+mj-lt"/>
              </a:rPr>
              <a:t>my role as a Junior Data Analyst, I examine historical car sales data to identify trends and patterns across key factors such as brand, model, mileage, region, time period, and color. </a:t>
            </a:r>
            <a:endParaRPr lang="en-US" sz="1800" dirty="0" smtClean="0">
              <a:latin typeface="+mj-lt"/>
            </a:endParaRPr>
          </a:p>
          <a:p>
            <a:pPr marL="384048" lvl="2" indent="0">
              <a:buNone/>
            </a:pPr>
            <a:endParaRPr lang="en-US" sz="1800" dirty="0">
              <a:latin typeface="+mj-lt"/>
            </a:endParaRPr>
          </a:p>
          <a:p>
            <a:pPr marL="384048" lvl="2" indent="0">
              <a:buNone/>
            </a:pPr>
            <a:r>
              <a:rPr lang="en-US" sz="1800" dirty="0" smtClean="0">
                <a:latin typeface="+mj-lt"/>
              </a:rPr>
              <a:t>The </a:t>
            </a:r>
            <a:r>
              <a:rPr lang="en-US" sz="1800" dirty="0">
                <a:latin typeface="+mj-lt"/>
              </a:rPr>
              <a:t>results of this analysis will inform strategic decisions in sales, marketing, and inventory planning, contributing to sustained growth and greater operational efficiency at Bright Motors.</a:t>
            </a:r>
            <a:endParaRPr lang="en-US" sz="18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INTRODUCTION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801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Bodoni SvtyTwo ITC TT-Book"/>
              </a:rPr>
              <a:t>Car </a:t>
            </a:r>
            <a:r>
              <a:rPr lang="en-US" dirty="0" smtClean="0">
                <a:sym typeface="Bodoni SvtyTwo ITC TT-Book"/>
              </a:rPr>
              <a:t>Brand Revenue</a:t>
            </a:r>
            <a:r>
              <a:rPr lang="en-US" dirty="0">
                <a:sym typeface="Bodoni SvtyTwo ITC TT-Book"/>
              </a:rPr>
              <a:t/>
            </a:r>
            <a:br>
              <a:rPr lang="en-US" dirty="0">
                <a:sym typeface="Bodoni SvtyTwo ITC TT-Book"/>
              </a:rPr>
            </a:br>
            <a:r>
              <a:rPr lang="en-US" sz="1800" dirty="0">
                <a:sym typeface="Bodoni SvtyTwo ITC TT-Book"/>
              </a:rPr>
              <a:t>by </a:t>
            </a:r>
            <a:r>
              <a:rPr lang="en-US" sz="1800" dirty="0" smtClean="0">
                <a:sym typeface="Bodoni SvtyTwo ITC TT-Book"/>
              </a:rPr>
              <a:t>model, </a:t>
            </a:r>
            <a:r>
              <a:rPr lang="en-US" sz="1800" dirty="0">
                <a:sym typeface="Bodoni SvtyTwo ITC TT-Book"/>
              </a:rPr>
              <a:t>mileage and year</a:t>
            </a:r>
            <a:endParaRPr lang="en-US" sz="18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179519"/>
            <a:ext cx="4633362" cy="27556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270" y="2179520"/>
            <a:ext cx="4584589" cy="2755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98925" y="5243734"/>
            <a:ext cx="58633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In </a:t>
            </a:r>
            <a:r>
              <a:rPr lang="en-US" sz="1000" dirty="0">
                <a:latin typeface="+mj-lt"/>
              </a:rPr>
              <a:t>recent years, lightly used vehicles have overwhelmingly dominated the market (99.99%) compared to extremely used cars (0.01%), indicating a strong buyer preference for newer models with lower mileage. </a:t>
            </a: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In </a:t>
            </a:r>
            <a:r>
              <a:rPr lang="en-US" sz="1000" dirty="0">
                <a:latin typeface="+mj-lt"/>
              </a:rPr>
              <a:t>mid-age years, moderately used cars remain the most purchased (99.7%), while extremely used vehicles show a slight increase (0.3%), suggesting that as vehicles age, buyers become more accepting of higher mileage when accompanied by reasonable pricing. </a:t>
            </a:r>
            <a:endParaRPr lang="en-ZA" sz="10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68189" y="1688923"/>
            <a:ext cx="3978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Overall, consumer demand declines significantly as vehicle mileage </a:t>
            </a:r>
            <a:r>
              <a:rPr lang="en-US" sz="1000" dirty="0" smtClean="0">
                <a:latin typeface="+mj-lt"/>
              </a:rPr>
              <a:t>increases.</a:t>
            </a:r>
            <a:endParaRPr lang="en-ZA" sz="10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9333" y="5243734"/>
            <a:ext cx="3594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000" dirty="0" smtClean="0">
                <a:latin typeface="+mj-lt"/>
              </a:rPr>
              <a:t>Across almost all car brands, other car models are most preferred. Within mainstream brands, the sedan model is the second most  preferred, followed by the pickup truck model.</a:t>
            </a:r>
            <a:endParaRPr lang="en-ZA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396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Bodoni SvtyTwo ITC TT-Book"/>
              </a:rPr>
              <a:t>Car </a:t>
            </a:r>
            <a:r>
              <a:rPr lang="en-US" dirty="0" smtClean="0">
                <a:sym typeface="Bodoni SvtyTwo ITC TT-Book"/>
              </a:rPr>
              <a:t>Brand Revenue</a:t>
            </a:r>
            <a:r>
              <a:rPr lang="en-US" dirty="0">
                <a:sym typeface="Bodoni SvtyTwo ITC TT-Book"/>
              </a:rPr>
              <a:t/>
            </a:r>
            <a:br>
              <a:rPr lang="en-US" dirty="0">
                <a:sym typeface="Bodoni SvtyTwo ITC TT-Book"/>
              </a:rPr>
            </a:br>
            <a:r>
              <a:rPr lang="en-US" sz="1800" dirty="0" smtClean="0">
                <a:sym typeface="Bodoni SvtyTwo ITC TT-Book"/>
              </a:rPr>
              <a:t>by </a:t>
            </a:r>
            <a:r>
              <a:rPr lang="en-US" sz="1800" dirty="0" smtClean="0">
                <a:sym typeface="Bodoni SvtyTwo ITC TT-Book"/>
              </a:rPr>
              <a:t>Region AND year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632060" y="5292323"/>
            <a:ext cx="52616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The </a:t>
            </a:r>
            <a:r>
              <a:rPr lang="en-US" sz="1000" dirty="0">
                <a:latin typeface="+mj-lt"/>
              </a:rPr>
              <a:t>US South emerges as the strongest performing region, accounting </a:t>
            </a:r>
            <a:endParaRPr lang="en-US" sz="1000" dirty="0" smtClean="0">
              <a:latin typeface="+mj-lt"/>
            </a:endParaRPr>
          </a:p>
          <a:p>
            <a:r>
              <a:rPr lang="en-US" sz="1000" dirty="0" smtClean="0">
                <a:latin typeface="+mj-lt"/>
              </a:rPr>
              <a:t>for roughly </a:t>
            </a:r>
            <a:r>
              <a:rPr lang="en-US" sz="1000" dirty="0">
                <a:latin typeface="+mj-lt"/>
              </a:rPr>
              <a:t>41.8% of total sales, highlighting its dominant </a:t>
            </a:r>
            <a:r>
              <a:rPr lang="en-US" sz="1000" dirty="0" smtClean="0">
                <a:latin typeface="+mj-lt"/>
              </a:rPr>
              <a:t>contribution</a:t>
            </a:r>
          </a:p>
          <a:p>
            <a:r>
              <a:rPr lang="en-US" sz="1000" dirty="0" smtClean="0">
                <a:latin typeface="+mj-lt"/>
              </a:rPr>
              <a:t> </a:t>
            </a:r>
            <a:r>
              <a:rPr lang="en-US" sz="1000" dirty="0">
                <a:latin typeface="+mj-lt"/>
              </a:rPr>
              <a:t>to overall revenue. </a:t>
            </a: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The </a:t>
            </a:r>
            <a:r>
              <a:rPr lang="en-US" sz="1000" dirty="0">
                <a:latin typeface="+mj-lt"/>
              </a:rPr>
              <a:t>US West follows with </a:t>
            </a:r>
            <a:r>
              <a:rPr lang="en-US" sz="1000" dirty="0" smtClean="0">
                <a:latin typeface="+mj-lt"/>
              </a:rPr>
              <a:t>about </a:t>
            </a:r>
            <a:r>
              <a:rPr lang="en-US" sz="1000" dirty="0">
                <a:latin typeface="+mj-lt"/>
              </a:rPr>
              <a:t>21.9%, indicating a moderate but </a:t>
            </a:r>
            <a:endParaRPr lang="en-US" sz="1000" dirty="0" smtClean="0">
              <a:latin typeface="+mj-lt"/>
            </a:endParaRPr>
          </a:p>
          <a:p>
            <a:r>
              <a:rPr lang="en-US" sz="1000" dirty="0" smtClean="0">
                <a:latin typeface="+mj-lt"/>
              </a:rPr>
              <a:t>significant </a:t>
            </a:r>
            <a:r>
              <a:rPr lang="en-US" sz="1000" dirty="0">
                <a:latin typeface="+mj-lt"/>
              </a:rPr>
              <a:t>market presence. </a:t>
            </a: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In </a:t>
            </a:r>
            <a:r>
              <a:rPr lang="en-US" sz="1000" dirty="0">
                <a:latin typeface="+mj-lt"/>
              </a:rPr>
              <a:t>contrast, the Territory region records minimal activity, </a:t>
            </a:r>
            <a:r>
              <a:rPr lang="en-US" sz="1000" dirty="0" smtClean="0">
                <a:latin typeface="+mj-lt"/>
              </a:rPr>
              <a:t>(</a:t>
            </a:r>
            <a:r>
              <a:rPr lang="en-US" sz="1000" dirty="0">
                <a:latin typeface="+mj-lt"/>
              </a:rPr>
              <a:t>0.8%), </a:t>
            </a:r>
            <a:endParaRPr lang="en-US" sz="1000" dirty="0" smtClean="0">
              <a:latin typeface="+mj-lt"/>
            </a:endParaRPr>
          </a:p>
          <a:p>
            <a:r>
              <a:rPr lang="en-US" sz="1000" dirty="0" smtClean="0">
                <a:latin typeface="+mj-lt"/>
              </a:rPr>
              <a:t>reflecting </a:t>
            </a:r>
            <a:r>
              <a:rPr lang="en-US" sz="1000" dirty="0">
                <a:latin typeface="+mj-lt"/>
              </a:rPr>
              <a:t>limited market engagement.</a:t>
            </a:r>
            <a:endParaRPr lang="en-ZA" sz="10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73" y="2420386"/>
            <a:ext cx="4584589" cy="27556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36" y="2420385"/>
            <a:ext cx="5037221" cy="27556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24336" y="5292323"/>
            <a:ext cx="50372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In </a:t>
            </a:r>
            <a:r>
              <a:rPr lang="en-US" sz="1000" dirty="0">
                <a:latin typeface="+mj-lt"/>
              </a:rPr>
              <a:t>recent years (74.82%), while luxury and other brands hold smaller shares. </a:t>
            </a:r>
            <a:endParaRPr lang="en-US" sz="1000" dirty="0" smtClean="0">
              <a:latin typeface="+mj-lt"/>
            </a:endParaRPr>
          </a:p>
          <a:p>
            <a:endParaRPr lang="en-US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Mid-age </a:t>
            </a:r>
            <a:r>
              <a:rPr lang="en-US" sz="1000" dirty="0">
                <a:latin typeface="+mj-lt"/>
              </a:rPr>
              <a:t>vehicles see a slight decline in mainstream revenue (66.25%) and a corresponding increase for luxury (19.97%) and other brands (13.02</a:t>
            </a:r>
            <a:r>
              <a:rPr lang="en-US" sz="1000" dirty="0" smtClean="0">
                <a:latin typeface="+mj-lt"/>
              </a:rPr>
              <a:t>%). </a:t>
            </a:r>
            <a:endParaRPr lang="en-US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Older </a:t>
            </a:r>
            <a:r>
              <a:rPr lang="en-US" sz="1000" dirty="0">
                <a:latin typeface="+mj-lt"/>
              </a:rPr>
              <a:t>and vintage vehicles generate the least revenue, reflecting lower demand and market availability.</a:t>
            </a:r>
            <a:endParaRPr lang="en-ZA" sz="1000" dirty="0"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26480" y="1790891"/>
            <a:ext cx="4809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 </a:t>
            </a:r>
            <a:r>
              <a:rPr lang="en-US" sz="1000" dirty="0">
                <a:latin typeface="+mj-lt"/>
              </a:rPr>
              <a:t>Revenue trends show that mainstream vehicles dominate across all age </a:t>
            </a:r>
            <a:r>
              <a:rPr lang="en-US" sz="1000" dirty="0" smtClean="0">
                <a:latin typeface="+mj-lt"/>
              </a:rPr>
              <a:t>categories.</a:t>
            </a:r>
            <a:endParaRPr lang="en-ZA" sz="10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2060" y="1750082"/>
            <a:ext cx="46200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The graph demonstrate </a:t>
            </a:r>
            <a:r>
              <a:rPr lang="en-US" sz="1000" dirty="0">
                <a:latin typeface="+mj-lt"/>
              </a:rPr>
              <a:t>a clear concentration of sales in the US South, moderate performance in the US West, and negligible contribution from the Territory region.</a:t>
            </a:r>
            <a:endParaRPr lang="en-ZA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2400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Bodoni SvtyTwo ITC TT-Book"/>
              </a:rPr>
              <a:t>Car </a:t>
            </a:r>
            <a:r>
              <a:rPr lang="en-US" dirty="0" err="1" smtClean="0">
                <a:sym typeface="Bodoni SvtyTwo ITC TT-Book"/>
              </a:rPr>
              <a:t>bRAND</a:t>
            </a:r>
            <a:r>
              <a:rPr lang="en-US" dirty="0" smtClean="0">
                <a:sym typeface="Bodoni SvtyTwo ITC TT-Book"/>
              </a:rPr>
              <a:t> </a:t>
            </a:r>
            <a:r>
              <a:rPr lang="en-US" dirty="0">
                <a:sym typeface="Bodoni SvtyTwo ITC TT-Book"/>
              </a:rPr>
              <a:t>Revenue</a:t>
            </a:r>
            <a:br>
              <a:rPr lang="en-US" dirty="0">
                <a:sym typeface="Bodoni SvtyTwo ITC TT-Book"/>
              </a:rPr>
            </a:br>
            <a:r>
              <a:rPr lang="en-US" sz="1800" dirty="0" smtClean="0">
                <a:sym typeface="Bodoni SvtyTwo ITC TT-Book"/>
              </a:rPr>
              <a:t>by </a:t>
            </a:r>
            <a:r>
              <a:rPr lang="en-US" sz="1800" dirty="0" smtClean="0">
                <a:sym typeface="Bodoni SvtyTwo ITC TT-Book"/>
              </a:rPr>
              <a:t>DAY OF THE WEEK </a:t>
            </a:r>
            <a:r>
              <a:rPr lang="en-US" sz="1800" dirty="0" smtClean="0">
                <a:sym typeface="Bodoni SvtyTwo ITC TT-Book"/>
              </a:rPr>
              <a:t>and </a:t>
            </a:r>
            <a:r>
              <a:rPr lang="en-US" sz="1800" dirty="0" smtClean="0">
                <a:sym typeface="Bodoni SvtyTwo ITC TT-Book"/>
              </a:rPr>
              <a:t>daily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587263" y="5153301"/>
            <a:ext cx="56049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Mainstream vehicles consistently dominate sales throughout the day, accounting for approximately 68–72% of transactions across all time periods</a:t>
            </a:r>
            <a:r>
              <a:rPr lang="en-US" sz="1000" dirty="0" smtClean="0">
                <a:latin typeface="+mj-lt"/>
              </a:rPr>
              <a:t>.</a:t>
            </a:r>
          </a:p>
          <a:p>
            <a:r>
              <a:rPr lang="en-US" sz="1000" dirty="0" smtClean="0">
                <a:latin typeface="+mj-lt"/>
              </a:rPr>
              <a:t> </a:t>
            </a:r>
            <a:endParaRPr lang="en-US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Luxury </a:t>
            </a:r>
            <a:r>
              <a:rPr lang="en-US" sz="1000" dirty="0">
                <a:latin typeface="+mj-lt"/>
              </a:rPr>
              <a:t>automobiles exhibit a marginally higher proportion of sales in the afternoon (23.7%) compared to the morning (18%) and evening (16.8%). </a:t>
            </a:r>
            <a:endParaRPr lang="en-US" sz="1000" dirty="0" smtClean="0">
              <a:latin typeface="+mj-lt"/>
            </a:endParaRPr>
          </a:p>
          <a:p>
            <a:endParaRPr lang="en-US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Other </a:t>
            </a:r>
            <a:r>
              <a:rPr lang="en-US" sz="1000" dirty="0">
                <a:latin typeface="+mj-lt"/>
              </a:rPr>
              <a:t>brands represent a relatively small share of total sales, ranging from 9–11%, with slightly higher proportions observed during the morning and evening than in the afternoon. </a:t>
            </a:r>
            <a:endParaRPr lang="en-ZA" sz="1000" dirty="0">
              <a:latin typeface="+mj-lt"/>
            </a:endParaRP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195821"/>
              </p:ext>
            </p:extLst>
          </p:nvPr>
        </p:nvGraphicFramePr>
        <p:xfrm>
          <a:off x="423913" y="2322095"/>
          <a:ext cx="57683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418254"/>
              </p:ext>
            </p:extLst>
          </p:nvPr>
        </p:nvGraphicFramePr>
        <p:xfrm>
          <a:off x="6737685" y="232209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98106" y="5153301"/>
            <a:ext cx="44115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Mainstream </a:t>
            </a:r>
            <a:r>
              <a:rPr lang="en-US" sz="1000" dirty="0">
                <a:latin typeface="+mj-lt"/>
              </a:rPr>
              <a:t>cars dominate weekday sales (64.7%) but drop to 50% on weekends. </a:t>
            </a: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Luxury </a:t>
            </a:r>
            <a:r>
              <a:rPr lang="en-US" sz="1000" dirty="0">
                <a:latin typeface="+mj-lt"/>
              </a:rPr>
              <a:t>vehicles maintain a modest share (15.5% weekdays, 8.5% </a:t>
            </a:r>
            <a:r>
              <a:rPr lang="en-US" sz="1000" dirty="0" smtClean="0">
                <a:latin typeface="+mj-lt"/>
              </a:rPr>
              <a:t>weekends).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other </a:t>
            </a:r>
            <a:r>
              <a:rPr lang="en-US" sz="1000" dirty="0">
                <a:latin typeface="+mj-lt"/>
              </a:rPr>
              <a:t>brands, though minor during weekdays (9.7%), rise to 41.8% of weekend sales, indicating weekend buyers are more likely to choose alternative brands.</a:t>
            </a:r>
            <a:endParaRPr lang="en-ZA" sz="1000" dirty="0"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7685" y="1842608"/>
            <a:ext cx="45158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Car </a:t>
            </a:r>
            <a:r>
              <a:rPr lang="en-US" sz="1000" dirty="0">
                <a:latin typeface="+mj-lt"/>
              </a:rPr>
              <a:t>purchases overwhelmingly occur on weekdays, accounting for 99.97% of total sales, while weekend sales are negligible at 0.03%. </a:t>
            </a:r>
            <a:endParaRPr lang="en-ZA" sz="1000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7263" y="1790891"/>
            <a:ext cx="5075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Evening </a:t>
            </a:r>
            <a:r>
              <a:rPr lang="en-US" sz="1000" dirty="0">
                <a:latin typeface="+mj-lt"/>
              </a:rPr>
              <a:t>transactions generate the highest volume of sales across all brands, indicating a clear preference among buyers for late-day purchases.</a:t>
            </a:r>
            <a:endParaRPr lang="en-ZA" sz="1000" dirty="0">
              <a:latin typeface="+mj-lt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3951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Bodoni SvtyTwo ITC TT-Book"/>
              </a:rPr>
              <a:t>Car </a:t>
            </a:r>
            <a:r>
              <a:rPr lang="en-US" dirty="0" smtClean="0">
                <a:sym typeface="Bodoni SvtyTwo ITC TT-Book"/>
              </a:rPr>
              <a:t>BRAND Revenue</a:t>
            </a:r>
            <a:r>
              <a:rPr lang="en-US" dirty="0">
                <a:sym typeface="Bodoni SvtyTwo ITC TT-Book"/>
              </a:rPr>
              <a:t/>
            </a:r>
            <a:br>
              <a:rPr lang="en-US" dirty="0">
                <a:sym typeface="Bodoni SvtyTwo ITC TT-Book"/>
              </a:rPr>
            </a:br>
            <a:r>
              <a:rPr lang="en-US" sz="1800" dirty="0" smtClean="0">
                <a:sym typeface="Bodoni SvtyTwo ITC TT-Book"/>
              </a:rPr>
              <a:t>by </a:t>
            </a:r>
            <a:r>
              <a:rPr lang="en-US" sz="1800" dirty="0" smtClean="0">
                <a:sym typeface="Bodoni SvtyTwo ITC TT-Book"/>
              </a:rPr>
              <a:t>MONTH and MILLEAGE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364738" y="1878732"/>
            <a:ext cx="5863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Mainstream </a:t>
            </a:r>
            <a:r>
              <a:rPr lang="en-US" sz="1000" dirty="0">
                <a:latin typeface="+mj-lt"/>
              </a:rPr>
              <a:t>brands are purchased consistently throughout the months, followed by luxury brands, with other brands ranking third in overall purchases.</a:t>
            </a:r>
          </a:p>
          <a:p>
            <a:endParaRPr lang="en-ZA" sz="12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7218" y="5528512"/>
            <a:ext cx="5139771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This </a:t>
            </a:r>
            <a:r>
              <a:rPr lang="en-US" sz="1000" dirty="0">
                <a:latin typeface="+mj-lt"/>
              </a:rPr>
              <a:t>indicates that moderately used cars continue to appeal to buyers seeking a balance between cost and acceptable vehicle condition. Consumers show a clear preference for low-mileage, high-quality vehicles, whereas heavily used cars are less favored due to higher risks and potential maintenance costs.</a:t>
            </a:r>
          </a:p>
          <a:p>
            <a:endParaRPr lang="en-US" sz="1100" dirty="0" smtClean="0">
              <a:latin typeface="+mj-lt"/>
            </a:endParaRPr>
          </a:p>
          <a:p>
            <a:endParaRPr lang="en-ZA" sz="12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57" y="2691137"/>
            <a:ext cx="6023370" cy="27495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663" y="2656306"/>
            <a:ext cx="5077326" cy="27556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24311" y="1790891"/>
            <a:ext cx="4581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Mainstream cars are the most frequently purchased across all usage categories, with percentages exceeding 70%, followed by luxury brands at 16% and above, while other brands are the least purchased, with percentages starting from 9%.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57" y="5528512"/>
            <a:ext cx="60233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Mainstream </a:t>
            </a:r>
            <a:r>
              <a:rPr lang="en-US" sz="1000" dirty="0">
                <a:latin typeface="+mj-lt"/>
              </a:rPr>
              <a:t>brands record their highest sales in February (71.84%) and the lowest in July (63.80%). Luxury brands peak in February (16.69%) and decline to their lowest in April (11.40%). Other brands also sell most in February (10.89%) and least in April (10.70</a:t>
            </a:r>
            <a:r>
              <a:rPr lang="en-US" sz="1000" dirty="0" smtClean="0">
                <a:latin typeface="+mj-lt"/>
              </a:rPr>
              <a:t>%).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+mj-lt"/>
              </a:rPr>
              <a:t>This </a:t>
            </a:r>
            <a:r>
              <a:rPr lang="en-US" sz="1000" dirty="0">
                <a:latin typeface="+mj-lt"/>
              </a:rPr>
              <a:t>trend indicates a seasonal preference, with February being the peak month for car purchases across all brand categories.</a:t>
            </a:r>
            <a:endParaRPr lang="en-ZA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469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Bodoni SvtyTwo ITC TT-Book"/>
              </a:rPr>
              <a:t>Car </a:t>
            </a:r>
            <a:r>
              <a:rPr lang="en-US" dirty="0" smtClean="0">
                <a:sym typeface="Bodoni SvtyTwo ITC TT-Book"/>
              </a:rPr>
              <a:t>BRAND Revenue</a:t>
            </a:r>
            <a:r>
              <a:rPr lang="en-US" dirty="0">
                <a:sym typeface="Bodoni SvtyTwo ITC TT-Book"/>
              </a:rPr>
              <a:t/>
            </a:r>
            <a:br>
              <a:rPr lang="en-US" dirty="0">
                <a:sym typeface="Bodoni SvtyTwo ITC TT-Book"/>
              </a:rPr>
            </a:br>
            <a:r>
              <a:rPr lang="en-US" sz="1800" dirty="0" smtClean="0">
                <a:sym typeface="Bodoni SvtyTwo ITC TT-Book"/>
              </a:rPr>
              <a:t>by COLOR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667473" y="5181513"/>
            <a:ext cx="5604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j-lt"/>
              </a:rPr>
              <a:t>In </a:t>
            </a:r>
            <a:r>
              <a:rPr lang="en-US" sz="1200" dirty="0">
                <a:latin typeface="+mj-lt"/>
              </a:rPr>
              <a:t>the luxury or premium car segment, black vehicles are the most commonly purchased, highlighting a strong preference among buyers for this color. Conversely, colors such as yellow, turquoise, purple, lime, pink, orange, and charcoal are less popular, resulting in comparatively lower sales.</a:t>
            </a:r>
            <a:endParaRPr lang="en-ZA" sz="12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61637" y="5181513"/>
            <a:ext cx="4411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In the mainstream or mass-market segment, white cars are the most widely sold, reflecting strong buyer preference for this color. In contrast, colors such as yellow, turquoise, off-white, purple, lime, pink, orange, and charcoal are less favored and see significantly lower sales.</a:t>
            </a:r>
            <a:endParaRPr lang="en-ZA" sz="12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637" y="2047122"/>
            <a:ext cx="4901609" cy="27556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28" y="2175459"/>
            <a:ext cx="4895512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Bodoni SvtyTwo ITC TT-Book"/>
              </a:rPr>
              <a:t>Car BRAND </a:t>
            </a:r>
            <a:r>
              <a:rPr lang="en-US" dirty="0">
                <a:sym typeface="Bodoni SvtyTwo ITC TT-Book"/>
              </a:rPr>
              <a:t>Revenue</a:t>
            </a:r>
            <a:br>
              <a:rPr lang="en-US" dirty="0">
                <a:sym typeface="Bodoni SvtyTwo ITC TT-Book"/>
              </a:rPr>
            </a:br>
            <a:r>
              <a:rPr lang="en-US" sz="1800" dirty="0" smtClean="0">
                <a:sym typeface="Bodoni SvtyTwo ITC TT-Book"/>
              </a:rPr>
              <a:t>by COLOR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458061" y="5297678"/>
            <a:ext cx="5003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In exotic and sports car brands, black cars are the top choice among buyers, showing a strong </a:t>
            </a:r>
            <a:r>
              <a:rPr lang="en-US" sz="1200" dirty="0" smtClean="0">
                <a:latin typeface="+mj-lt"/>
              </a:rPr>
              <a:t>preference. While , </a:t>
            </a:r>
            <a:r>
              <a:rPr lang="en-US" sz="1200" dirty="0">
                <a:latin typeface="+mj-lt"/>
              </a:rPr>
              <a:t>colors such as beige, orange, off-white, purple, and charcoal attract fewer buyers, suggesting that these shades are less appealing to most customers in this category.</a:t>
            </a:r>
            <a:endParaRPr lang="en-ZA" sz="12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40856" y="5297678"/>
            <a:ext cx="5139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Within the miscellaneous car category, black vehicles demonstrate the highest purchasing frequency, reflecting a strong consumer preference for this color. In contrast, colors such as beige, yellow, off-white, gold, and charcoal exhibit significantly lower sales, indicating limited buyer interest in these shades.</a:t>
            </a:r>
            <a:endParaRPr lang="en-ZA" sz="1200" dirty="0"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091" y="2215564"/>
            <a:ext cx="4584589" cy="27556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73" y="2215564"/>
            <a:ext cx="4584589" cy="27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1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Bodoni SvtyTwo ITC TT-Book"/>
              </a:rPr>
              <a:t>Car BRAND </a:t>
            </a:r>
            <a:r>
              <a:rPr lang="en-US" dirty="0">
                <a:sym typeface="Bodoni SvtyTwo ITC TT-Book"/>
              </a:rPr>
              <a:t>Revenue</a:t>
            </a:r>
            <a:br>
              <a:rPr lang="en-US" dirty="0">
                <a:sym typeface="Bodoni SvtyTwo ITC TT-Book"/>
              </a:rPr>
            </a:br>
            <a:r>
              <a:rPr lang="en-US" sz="1800" dirty="0" smtClean="0">
                <a:sym typeface="Bodoni SvtyTwo ITC TT-Book"/>
              </a:rPr>
              <a:t>by COLOR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621072" y="5329946"/>
            <a:ext cx="58633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In other car brands, white and black vehicles are the most popular among buyers, indicating a clear preference for these classic colors. In contrast, colors such as yellow, turquoise, purple, lime, off-white, and charcoal are purchased less frequently, suggesting lower consumer interest in these shades.</a:t>
            </a:r>
            <a:endParaRPr lang="en-ZA" sz="12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73" y="2067226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0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59CD-1242-F149-AB16-9D02E7C8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6" y="461922"/>
            <a:ext cx="5751389" cy="1369074"/>
          </a:xfrm>
        </p:spPr>
        <p:txBody>
          <a:bodyPr/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 rot="10800000" flipV="1">
            <a:off x="716035" y="1896748"/>
            <a:ext cx="931798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Prioritize High-Performing Brands &amp; Models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Focus inventory and marketing on top revenue-generating vehicles.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Optimize Inventory by Mileage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Stock more lightly and moderately used cars; reduce heavily used vehicles.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Align Stock with Regional Demand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Tailor inventory and promotions to regional sales preferences.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Leverage Time-Based Sales Trends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Target campaigns during peak sales periods; offer incentives during slow periods.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Stock Popular Colors &amp; Features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Match vehicles to buyer preferences to increase turnover.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Implement Data-Driven Pricing &amp; Promotions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Use historical sales data for competitive pricing and strategic promotions.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Monitor Performance Continuously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Track brand revenue, inventory turnover, and adjust strategies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610370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69AA2-97D6-4693-9E8A-BEBB49A5C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806" y="2058034"/>
            <a:ext cx="8728510" cy="4032225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analysis of the “Bright Car Sales” dataset has provided valuable insights into sales trends across brands, models, mileage, regions, time periods, and colors. </a:t>
            </a:r>
            <a:endParaRPr lang="en-US" dirty="0" smtClean="0">
              <a:latin typeface="+mj-lt"/>
            </a:endParaRPr>
          </a:p>
          <a:p>
            <a:r>
              <a:rPr lang="en-US" dirty="0" smtClean="0">
                <a:latin typeface="+mj-lt"/>
              </a:rPr>
              <a:t>These </a:t>
            </a:r>
            <a:r>
              <a:rPr lang="en-US" dirty="0">
                <a:latin typeface="+mj-lt"/>
              </a:rPr>
              <a:t>insights highlight key drivers of revenue and identify opportunities to optimize inventory, pricing, and marketing strategies. </a:t>
            </a:r>
            <a:endParaRPr lang="en-US" dirty="0" smtClean="0">
              <a:latin typeface="+mj-lt"/>
            </a:endParaRPr>
          </a:p>
          <a:p>
            <a:r>
              <a:rPr lang="en-US" dirty="0" smtClean="0">
                <a:latin typeface="+mj-lt"/>
              </a:rPr>
              <a:t>By </a:t>
            </a:r>
            <a:r>
              <a:rPr lang="en-US" dirty="0">
                <a:latin typeface="+mj-lt"/>
              </a:rPr>
              <a:t>focusing on high-performing brands, aligning stock with customer preferences and regional demand, leveraging time-based trends, and implementing data-driven pricing strategies, Bright Motors can enhance both profitability and operational efficiency. </a:t>
            </a:r>
            <a:endParaRPr lang="en-US" dirty="0" smtClean="0">
              <a:latin typeface="+mj-lt"/>
            </a:endParaRPr>
          </a:p>
          <a:p>
            <a:r>
              <a:rPr lang="en-US" dirty="0" smtClean="0">
                <a:latin typeface="+mj-lt"/>
              </a:rPr>
              <a:t>Continuous </a:t>
            </a:r>
            <a:r>
              <a:rPr lang="en-US" dirty="0">
                <a:latin typeface="+mj-lt"/>
              </a:rPr>
              <a:t>monitoring and adjustment based on data will ensure that strategic decisions remain informed, agile, and aligned with business objectives, supporting sustained growth and competitive advantage in the automotive market.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7C633-6FA1-4FBC-8E61-54FEB45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80238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Brights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_Light_Sales Pitch_03_Win32_AS_v2" id="{CF4846AB-E769-4F64-85D9-28E4AEB533C2}" vid="{4425D9ED-C4EC-465B-AB7E-72A929978A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F4328E-77DF-41E8-952F-124AE19F1F7C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2FE978-FCBC-4C90-A410-B547AA706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7FA506-1E93-4CA4-B270-1F08FD18C3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0</TotalTime>
  <Words>1343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Bodoni SvtyTwo ITC TT-Book</vt:lpstr>
      <vt:lpstr>Calibri</vt:lpstr>
      <vt:lpstr>Consolas</vt:lpstr>
      <vt:lpstr>Verdana</vt:lpstr>
      <vt:lpstr>RetrospectVTI</vt:lpstr>
      <vt:lpstr>CAR SALES PITCH</vt:lpstr>
      <vt:lpstr>Table of content</vt:lpstr>
      <vt:lpstr>INTRODUCTION</vt:lpstr>
      <vt:lpstr>Car Brand Revenue by model, mileage and year</vt:lpstr>
      <vt:lpstr>Car Brand Revenue by Region AND year</vt:lpstr>
      <vt:lpstr>Car bRAND Revenue by DAY OF THE WEEK and daily</vt:lpstr>
      <vt:lpstr>Car BRAND Revenue by MONTH and MILLEAGE</vt:lpstr>
      <vt:lpstr>Car BRAND Revenue by COLOR</vt:lpstr>
      <vt:lpstr>Car BRAND Revenue by COLOR</vt:lpstr>
      <vt:lpstr>Car BRAND Revenue by COLOR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2025-11-11T20:14:21Z</dcterms:created>
  <dcterms:modified xsi:type="dcterms:W3CDTF">2025-11-12T17:04:05Z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